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embeddedFontLst>
    <p:embeddedFont>
      <p:font typeface="Roboto Slab"/>
      <p:regular r:id="rId15"/>
      <p:bold r:id="rId16"/>
    </p:embeddedFon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Slab-regular.fntdata"/><Relationship Id="rId14" Type="http://schemas.openxmlformats.org/officeDocument/2006/relationships/slide" Target="slides/slide10.xml"/><Relationship Id="rId17" Type="http://schemas.openxmlformats.org/officeDocument/2006/relationships/font" Target="fonts/Roboto-regular.fntdata"/><Relationship Id="rId16" Type="http://schemas.openxmlformats.org/officeDocument/2006/relationships/font" Target="fonts/RobotoSlab-bold.fntdata"/><Relationship Id="rId5" Type="http://schemas.openxmlformats.org/officeDocument/2006/relationships/slide" Target="slides/slide1.xml"/><Relationship Id="rId19" Type="http://schemas.openxmlformats.org/officeDocument/2006/relationships/font" Target="fonts/Roboto-italic.fntdata"/><Relationship Id="rId6" Type="http://schemas.openxmlformats.org/officeDocument/2006/relationships/slide" Target="slides/slide2.xml"/><Relationship Id="rId18" Type="http://schemas.openxmlformats.org/officeDocument/2006/relationships/font" Target="fonts/Roboto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0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496119" y="1917576"/>
            <a:ext cx="517467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750"/>
              <a:buFont typeface="Roboto Slab"/>
              <a:buNone/>
            </a:pPr>
            <a:r>
              <a:rPr b="0" i="0" lang="en-US" sz="27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Otsu's Thresholding Method</a:t>
            </a:r>
            <a:endParaRPr b="0" i="0" sz="2750" u="none" cap="none" strike="noStrike"/>
          </a:p>
        </p:txBody>
      </p:sp>
      <p:sp>
        <p:nvSpPr>
          <p:cNvPr id="57" name="Google Shape;57;p13"/>
          <p:cNvSpPr/>
          <p:nvPr/>
        </p:nvSpPr>
        <p:spPr>
          <a:xfrm>
            <a:off x="496119" y="2573164"/>
            <a:ext cx="8608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 classical statistical engine for autonomous image binarization — still essential in the age of deep learning.</a:t>
            </a:r>
            <a:endParaRPr b="0" i="0" sz="1100" u="none" cap="none" strike="noStrike"/>
          </a:p>
        </p:txBody>
      </p:sp>
      <p:sp>
        <p:nvSpPr>
          <p:cNvPr id="58" name="Google Shape;58;p13"/>
          <p:cNvSpPr/>
          <p:nvPr/>
        </p:nvSpPr>
        <p:spPr>
          <a:xfrm>
            <a:off x="496119" y="2959447"/>
            <a:ext cx="2386161" cy="266402"/>
          </a:xfrm>
          <a:prstGeom prst="roundRect">
            <a:avLst>
              <a:gd fmla="val 6386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581174" y="3001938"/>
            <a:ext cx="2673251" cy="181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en-US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COMPUTER VISION · CLASSICAL METHODS</a:t>
            </a:r>
            <a:endParaRPr b="0" i="0" sz="8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496119" y="1420862"/>
            <a:ext cx="400131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750"/>
              <a:buFont typeface="Roboto Slab"/>
              <a:buNone/>
            </a:pPr>
            <a:r>
              <a:rPr b="0" i="0" lang="en-US" sz="27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The Core Challenge</a:t>
            </a:r>
            <a:endParaRPr b="0" i="0" sz="2750" u="none" cap="none" strike="noStrike"/>
          </a:p>
        </p:txBody>
      </p:sp>
      <p:sp>
        <p:nvSpPr>
          <p:cNvPr id="66" name="Google Shape;66;p14"/>
          <p:cNvSpPr/>
          <p:nvPr/>
        </p:nvSpPr>
        <p:spPr>
          <a:xfrm>
            <a:off x="496119" y="2235919"/>
            <a:ext cx="1880592" cy="1327175"/>
          </a:xfrm>
          <a:prstGeom prst="roundRect">
            <a:avLst>
              <a:gd fmla="val 1602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637877" y="2377678"/>
            <a:ext cx="205427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 Slab"/>
              <a:buNone/>
            </a:pPr>
            <a:r>
              <a:rPr b="0" i="0" lang="en-US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Fixed Threshold</a:t>
            </a:r>
            <a:endParaRPr b="0" i="0" sz="1350" u="none" cap="none" strike="noStrike"/>
          </a:p>
        </p:txBody>
      </p:sp>
      <p:sp>
        <p:nvSpPr>
          <p:cNvPr id="68" name="Google Shape;68;p14"/>
          <p:cNvSpPr/>
          <p:nvPr/>
        </p:nvSpPr>
        <p:spPr>
          <a:xfrm>
            <a:off x="637877" y="2740893"/>
            <a:ext cx="1597075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Hardcoded value (e.g., 128) — brittle, breaks under any lighting shift</a:t>
            </a:r>
            <a:endParaRPr b="0" i="0" sz="1100" u="none" cap="none" strike="noStrike"/>
          </a:p>
        </p:txBody>
      </p:sp>
      <p:sp>
        <p:nvSpPr>
          <p:cNvPr id="69" name="Google Shape;69;p14"/>
          <p:cNvSpPr/>
          <p:nvPr/>
        </p:nvSpPr>
        <p:spPr>
          <a:xfrm>
            <a:off x="2518470" y="2235919"/>
            <a:ext cx="1880592" cy="1327175"/>
          </a:xfrm>
          <a:prstGeom prst="roundRect">
            <a:avLst>
              <a:gd fmla="val 1602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2660228" y="2377678"/>
            <a:ext cx="205427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 Slab"/>
              <a:buNone/>
            </a:pPr>
            <a:r>
              <a:rPr b="0" i="0" lang="en-US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Real World</a:t>
            </a:r>
            <a:endParaRPr b="0" i="0" sz="1350" u="none" cap="none" strike="noStrike"/>
          </a:p>
        </p:txBody>
      </p:sp>
      <p:sp>
        <p:nvSpPr>
          <p:cNvPr id="71" name="Google Shape;71;p14"/>
          <p:cNvSpPr/>
          <p:nvPr/>
        </p:nvSpPr>
        <p:spPr>
          <a:xfrm>
            <a:off x="2660228" y="2740893"/>
            <a:ext cx="1597075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Clouds, exposure drift, sensor noise — intensity values are never stable</a:t>
            </a:r>
            <a:endParaRPr b="0" i="0" sz="1100" u="none" cap="none" strike="noStrike"/>
          </a:p>
        </p:txBody>
      </p:sp>
      <p:sp>
        <p:nvSpPr>
          <p:cNvPr id="72" name="Google Shape;72;p14"/>
          <p:cNvSpPr/>
          <p:nvPr/>
        </p:nvSpPr>
        <p:spPr>
          <a:xfrm>
            <a:off x="4749701" y="2218209"/>
            <a:ext cx="22292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350"/>
              <a:buFont typeface="Roboto Slab"/>
              <a:buNone/>
            </a:pPr>
            <a:r>
              <a:rPr b="0" i="0" lang="en-US" sz="13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The Requirement</a:t>
            </a:r>
            <a:endParaRPr b="0" i="0" sz="1350" u="none" cap="none" strike="noStrike"/>
          </a:p>
        </p:txBody>
      </p:sp>
      <p:sp>
        <p:nvSpPr>
          <p:cNvPr id="73" name="Google Shape;73;p14"/>
          <p:cNvSpPr/>
          <p:nvPr/>
        </p:nvSpPr>
        <p:spPr>
          <a:xfrm>
            <a:off x="4749701" y="2581424"/>
            <a:ext cx="3902943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b="1" i="0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dynamic algorithm</a:t>
            </a:r>
            <a:r>
              <a:rPr b="0" i="0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that computes the optimal threshold </a:t>
            </a:r>
            <a:r>
              <a:rPr b="1" i="0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autonomously</a:t>
            </a:r>
            <a:r>
              <a:rPr b="0" i="0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, adaptively, and in real time — with zero manual calibration.</a:t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/>
          <p:nvPr/>
        </p:nvSpPr>
        <p:spPr>
          <a:xfrm>
            <a:off x="674489" y="352351"/>
            <a:ext cx="3898850" cy="352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200"/>
              <a:buFont typeface="Roboto Slab"/>
              <a:buNone/>
            </a:pPr>
            <a:r>
              <a:rPr b="0" i="0" lang="en-US" sz="2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The Statistical Landscape</a:t>
            </a:r>
            <a:endParaRPr b="0" i="0" sz="2200" u="none" cap="none" strike="noStrike"/>
          </a:p>
        </p:txBody>
      </p:sp>
      <p:pic>
        <p:nvPicPr>
          <p:cNvPr descr="preencoded.png" id="80" name="Google Shape;8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4489" y="941487"/>
            <a:ext cx="4970190" cy="275659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/>
          <p:nvPr/>
        </p:nvSpPr>
        <p:spPr>
          <a:xfrm>
            <a:off x="674489" y="3799284"/>
            <a:ext cx="5427390" cy="162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850"/>
              <a:buFont typeface="Arial"/>
              <a:buNone/>
            </a:pPr>
            <a:r>
              <a:t/>
            </a:r>
            <a:endParaRPr b="0" i="0" sz="850" u="none" cap="none" strike="noStrike"/>
          </a:p>
        </p:txBody>
      </p:sp>
      <p:sp>
        <p:nvSpPr>
          <p:cNvPr id="82" name="Google Shape;82;p15"/>
          <p:cNvSpPr/>
          <p:nvPr/>
        </p:nvSpPr>
        <p:spPr>
          <a:xfrm>
            <a:off x="5925071" y="1947490"/>
            <a:ext cx="1869281" cy="176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100"/>
              <a:buFont typeface="Roboto Slab"/>
              <a:buNone/>
            </a:pPr>
            <a:r>
              <a:rPr b="0" i="0" lang="en-US" sz="11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Otsu's Insight</a:t>
            </a:r>
            <a:endParaRPr b="0" i="0" sz="1100" u="none" cap="none" strike="noStrike"/>
          </a:p>
        </p:txBody>
      </p:sp>
      <p:sp>
        <p:nvSpPr>
          <p:cNvPr id="83" name="Google Shape;83;p15"/>
          <p:cNvSpPr/>
          <p:nvPr/>
        </p:nvSpPr>
        <p:spPr>
          <a:xfrm>
            <a:off x="5925071" y="2213967"/>
            <a:ext cx="2549054" cy="730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en-US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Skip pixel-by-pixel spatial analysis. Instead, analyze the </a:t>
            </a:r>
            <a:r>
              <a:rPr b="1" i="0" lang="en-US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intensity histogram</a:t>
            </a:r>
            <a:r>
              <a:rPr b="0" i="0" lang="en-US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at a macro level.</a:t>
            </a:r>
            <a:endParaRPr b="0" i="0" sz="850" u="none" cap="none" strike="noStrike"/>
          </a:p>
          <a:p>
            <a:pPr indent="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en-US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 geometric problem becomes a </a:t>
            </a:r>
            <a:r>
              <a:rPr b="1" i="0" lang="en-US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statistical one</a:t>
            </a:r>
            <a:r>
              <a:rPr b="0" i="0" lang="en-US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: find the valley between two populations.</a:t>
            </a:r>
            <a:endParaRPr b="0" i="0" sz="850" u="none" cap="none" strike="noStrike"/>
          </a:p>
        </p:txBody>
      </p:sp>
      <p:sp>
        <p:nvSpPr>
          <p:cNvPr id="84" name="Google Shape;84;p15"/>
          <p:cNvSpPr/>
          <p:nvPr/>
        </p:nvSpPr>
        <p:spPr>
          <a:xfrm>
            <a:off x="674489" y="4143821"/>
            <a:ext cx="3852490" cy="647328"/>
          </a:xfrm>
          <a:prstGeom prst="roundRect">
            <a:avLst>
              <a:gd fmla="val 10594" name="adj"/>
            </a:avLst>
          </a:prstGeom>
          <a:solidFill>
            <a:srgbClr val="FBFCFE"/>
          </a:solidFill>
          <a:ln cap="flat" cmpd="sng" w="1427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" name="Google Shape;8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202" y="4143821"/>
            <a:ext cx="57150" cy="64732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/>
          <p:nvPr/>
        </p:nvSpPr>
        <p:spPr>
          <a:xfrm>
            <a:off x="844600" y="4271070"/>
            <a:ext cx="1869281" cy="176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en-US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Peak 1 — Background</a:t>
            </a:r>
            <a:endParaRPr b="0" i="0" sz="1100" u="none" cap="none" strike="noStrike"/>
          </a:p>
        </p:txBody>
      </p:sp>
      <p:sp>
        <p:nvSpPr>
          <p:cNvPr id="87" name="Google Shape;87;p15"/>
          <p:cNvSpPr/>
          <p:nvPr/>
        </p:nvSpPr>
        <p:spPr>
          <a:xfrm>
            <a:off x="844600" y="4501530"/>
            <a:ext cx="4012332" cy="162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en-US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Cluster of dark pixel intensities</a:t>
            </a:r>
            <a:endParaRPr b="0" i="0" sz="850" u="none" cap="none" strike="noStrike"/>
          </a:p>
        </p:txBody>
      </p:sp>
      <p:sp>
        <p:nvSpPr>
          <p:cNvPr id="88" name="Google Shape;88;p15"/>
          <p:cNvSpPr/>
          <p:nvPr/>
        </p:nvSpPr>
        <p:spPr>
          <a:xfrm>
            <a:off x="4616946" y="4143821"/>
            <a:ext cx="3852490" cy="647328"/>
          </a:xfrm>
          <a:prstGeom prst="roundRect">
            <a:avLst>
              <a:gd fmla="val 10594" name="adj"/>
            </a:avLst>
          </a:prstGeom>
          <a:solidFill>
            <a:srgbClr val="FBFCFE"/>
          </a:solidFill>
          <a:ln cap="flat" cmpd="sng" w="1427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9" name="Google Shape;8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02659" y="4143821"/>
            <a:ext cx="57150" cy="647328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5"/>
          <p:cNvSpPr/>
          <p:nvPr/>
        </p:nvSpPr>
        <p:spPr>
          <a:xfrm>
            <a:off x="4787057" y="4271070"/>
            <a:ext cx="1869281" cy="176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b="0" i="0" lang="en-US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Peak 2 — Foreground</a:t>
            </a:r>
            <a:endParaRPr b="0" i="0" sz="1100" u="none" cap="none" strike="noStrike"/>
          </a:p>
        </p:txBody>
      </p:sp>
      <p:sp>
        <p:nvSpPr>
          <p:cNvPr id="91" name="Google Shape;91;p15"/>
          <p:cNvSpPr/>
          <p:nvPr/>
        </p:nvSpPr>
        <p:spPr>
          <a:xfrm>
            <a:off x="4787057" y="4501530"/>
            <a:ext cx="4012332" cy="162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b="0" i="0" lang="en-US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Cluster of bright pixel intensities</a:t>
            </a:r>
            <a:endParaRPr b="0" i="0" sz="8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/>
          <p:nvPr/>
        </p:nvSpPr>
        <p:spPr>
          <a:xfrm>
            <a:off x="496119" y="1523702"/>
            <a:ext cx="6204868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750"/>
              <a:buFont typeface="Roboto Slab"/>
              <a:buNone/>
            </a:pPr>
            <a:r>
              <a:rPr b="0" i="0" lang="en-US" sz="27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Step 1 — Probability Normalization</a:t>
            </a:r>
            <a:endParaRPr b="0" i="0" sz="2750" u="none" cap="none" strike="noStrike"/>
          </a:p>
        </p:txBody>
      </p:sp>
      <p:sp>
        <p:nvSpPr>
          <p:cNvPr id="98" name="Google Shape;98;p16"/>
          <p:cNvSpPr/>
          <p:nvPr/>
        </p:nvSpPr>
        <p:spPr>
          <a:xfrm>
            <a:off x="496119" y="2321049"/>
            <a:ext cx="2821707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350"/>
              <a:buFont typeface="Roboto Slab"/>
              <a:buNone/>
            </a:pPr>
            <a:r>
              <a:rPr b="0" i="0" lang="en-US" sz="13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From Counts to Probabilities</a:t>
            </a:r>
            <a:endParaRPr b="0" i="0" sz="1350" u="none" cap="none" strike="noStrike"/>
          </a:p>
        </p:txBody>
      </p:sp>
      <p:sp>
        <p:nvSpPr>
          <p:cNvPr id="99" name="Google Shape;99;p16"/>
          <p:cNvSpPr/>
          <p:nvPr/>
        </p:nvSpPr>
        <p:spPr>
          <a:xfrm>
            <a:off x="496119" y="2721918"/>
            <a:ext cx="4360143" cy="3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SzPts val="1250"/>
              <a:buFont typeface="Arial"/>
              <a:buNone/>
            </a:pPr>
            <a:r>
              <a:t/>
            </a:r>
            <a:endParaRPr b="0" i="0" sz="1250" u="none" cap="none" strike="noStrike"/>
          </a:p>
        </p:txBody>
      </p:sp>
      <p:pic>
        <p:nvPicPr>
          <p:cNvPr descr="preencoded.png" id="100" name="Google Shape;10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2721918"/>
            <a:ext cx="3902943" cy="34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6"/>
          <p:cNvSpPr/>
          <p:nvPr/>
        </p:nvSpPr>
        <p:spPr>
          <a:xfrm>
            <a:off x="496119" y="3247430"/>
            <a:ext cx="436014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Where </a:t>
            </a:r>
            <a:r>
              <a:rPr b="1" i="1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n_i</a:t>
            </a:r>
            <a:r>
              <a:rPr b="0" i="0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= pixel count at intensity </a:t>
            </a:r>
            <a:r>
              <a:rPr b="0" i="1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b="0" i="0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i="1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b="0" i="0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= total pixels.</a:t>
            </a:r>
            <a:endParaRPr b="0" i="0" sz="1100" u="none" cap="none" strike="noStrike"/>
          </a:p>
        </p:txBody>
      </p:sp>
      <p:sp>
        <p:nvSpPr>
          <p:cNvPr id="102" name="Google Shape;102;p16"/>
          <p:cNvSpPr/>
          <p:nvPr/>
        </p:nvSpPr>
        <p:spPr>
          <a:xfrm>
            <a:off x="4647605" y="2179290"/>
            <a:ext cx="4107135" cy="1440507"/>
          </a:xfrm>
          <a:prstGeom prst="roundRect">
            <a:avLst>
              <a:gd fmla="val 1476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4789363" y="2321049"/>
            <a:ext cx="22292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Roboto Slab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Why It Matters</a:t>
            </a:r>
            <a:endParaRPr b="0" i="0" sz="1350" u="none" cap="none" strike="noStrike"/>
          </a:p>
        </p:txBody>
      </p:sp>
      <p:sp>
        <p:nvSpPr>
          <p:cNvPr id="104" name="Google Shape;104;p16"/>
          <p:cNvSpPr/>
          <p:nvPr/>
        </p:nvSpPr>
        <p:spPr>
          <a:xfrm>
            <a:off x="4789363" y="2684264"/>
            <a:ext cx="3823618" cy="807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Produces a </a:t>
            </a:r>
            <a:r>
              <a:rPr b="1" i="0" lang="en-US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Probability Mass Function</a:t>
            </a:r>
            <a:r>
              <a:rPr b="0" i="0" lang="en-US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— making the algorithm </a:t>
            </a:r>
            <a:r>
              <a:rPr b="1" i="0" lang="en-US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scale-invariant</a:t>
            </a:r>
            <a:r>
              <a:rPr b="0" i="0" lang="en-US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1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Works identically on a 480p thumbnail and a 4K data stream.</a:t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/>
          <p:nvPr/>
        </p:nvSpPr>
        <p:spPr>
          <a:xfrm>
            <a:off x="496119" y="861268"/>
            <a:ext cx="6687741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750"/>
              <a:buFont typeface="Roboto Slab"/>
              <a:buNone/>
            </a:pPr>
            <a:r>
              <a:rPr b="0" i="0" lang="en-US" sz="27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Step 2 — Class Partitioning &amp; Weights</a:t>
            </a:r>
            <a:endParaRPr b="0" i="0" sz="2750" u="none" cap="none" strike="noStrike"/>
          </a:p>
        </p:txBody>
      </p:sp>
      <p:sp>
        <p:nvSpPr>
          <p:cNvPr id="111" name="Google Shape;111;p17"/>
          <p:cNvSpPr/>
          <p:nvPr/>
        </p:nvSpPr>
        <p:spPr>
          <a:xfrm>
            <a:off x="496119" y="1587773"/>
            <a:ext cx="8608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For every candidate threshold </a:t>
            </a:r>
            <a:r>
              <a:rPr b="0" i="1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b="0" i="0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, the histogram is split into two classes:</a:t>
            </a:r>
            <a:endParaRPr b="0" i="0" sz="1100" u="none" cap="none" strike="noStrike"/>
          </a:p>
        </p:txBody>
      </p:sp>
      <p:sp>
        <p:nvSpPr>
          <p:cNvPr id="112" name="Google Shape;112;p17"/>
          <p:cNvSpPr/>
          <p:nvPr/>
        </p:nvSpPr>
        <p:spPr>
          <a:xfrm>
            <a:off x="496119" y="1974056"/>
            <a:ext cx="8151763" cy="836488"/>
          </a:xfrm>
          <a:prstGeom prst="roundRect">
            <a:avLst>
              <a:gd fmla="val 2542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7"/>
          <p:cNvSpPr/>
          <p:nvPr/>
        </p:nvSpPr>
        <p:spPr>
          <a:xfrm>
            <a:off x="496119" y="1974056"/>
            <a:ext cx="4075881" cy="836488"/>
          </a:xfrm>
          <a:prstGeom prst="roundRect">
            <a:avLst>
              <a:gd fmla="val 2542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7"/>
          <p:cNvSpPr/>
          <p:nvPr/>
        </p:nvSpPr>
        <p:spPr>
          <a:xfrm>
            <a:off x="637877" y="2115815"/>
            <a:ext cx="2229222" cy="241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 Slab"/>
              <a:buNone/>
            </a:pPr>
            <a:r>
              <a:rPr b="0" i="1" lang="en-US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C_B</a:t>
            </a:r>
            <a:r>
              <a:rPr b="0" i="0" lang="en-US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— Background</a:t>
            </a:r>
            <a:endParaRPr b="0" i="0" sz="1350" u="none" cap="none" strike="noStrike"/>
          </a:p>
        </p:txBody>
      </p:sp>
      <p:sp>
        <p:nvSpPr>
          <p:cNvPr id="115" name="Google Shape;115;p17"/>
          <p:cNvSpPr/>
          <p:nvPr/>
        </p:nvSpPr>
        <p:spPr>
          <a:xfrm>
            <a:off x="637877" y="2441972"/>
            <a:ext cx="4036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Intensities from </a:t>
            </a:r>
            <a:r>
              <a:rPr b="0" i="1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0" i="0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to </a:t>
            </a:r>
            <a:r>
              <a:rPr b="0" i="1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endParaRPr b="0" i="0" sz="1100" u="none" cap="none" strike="noStrike"/>
          </a:p>
        </p:txBody>
      </p:sp>
      <p:sp>
        <p:nvSpPr>
          <p:cNvPr id="116" name="Google Shape;116;p17"/>
          <p:cNvSpPr/>
          <p:nvPr/>
        </p:nvSpPr>
        <p:spPr>
          <a:xfrm>
            <a:off x="4572000" y="1974056"/>
            <a:ext cx="4075881" cy="836488"/>
          </a:xfrm>
          <a:prstGeom prst="rect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4572000" y="1974056"/>
            <a:ext cx="19050" cy="836488"/>
          </a:xfrm>
          <a:prstGeom prst="roundRect">
            <a:avLst>
              <a:gd fmla="val 11162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4926360" y="2115815"/>
            <a:ext cx="2229222" cy="2411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 Slab"/>
              <a:buNone/>
            </a:pPr>
            <a:r>
              <a:rPr b="0" i="1" lang="en-US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C_F</a:t>
            </a:r>
            <a:r>
              <a:rPr b="0" i="0" lang="en-US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— Foreground</a:t>
            </a:r>
            <a:endParaRPr b="0" i="0" sz="1350" u="none" cap="none" strike="noStrike"/>
          </a:p>
        </p:txBody>
      </p:sp>
      <p:sp>
        <p:nvSpPr>
          <p:cNvPr id="119" name="Google Shape;119;p17"/>
          <p:cNvSpPr/>
          <p:nvPr/>
        </p:nvSpPr>
        <p:spPr>
          <a:xfrm>
            <a:off x="4926360" y="2441972"/>
            <a:ext cx="4036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Intensities from </a:t>
            </a:r>
            <a:r>
              <a:rPr b="0" i="1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t+1</a:t>
            </a:r>
            <a:r>
              <a:rPr b="0" i="0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to </a:t>
            </a:r>
            <a:r>
              <a:rPr b="0" i="1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255</a:t>
            </a:r>
            <a:endParaRPr b="0" i="0" sz="1100" u="none" cap="none" strike="noStrike"/>
          </a:p>
        </p:txBody>
      </p:sp>
      <p:sp>
        <p:nvSpPr>
          <p:cNvPr id="120" name="Google Shape;120;p17"/>
          <p:cNvSpPr/>
          <p:nvPr/>
        </p:nvSpPr>
        <p:spPr>
          <a:xfrm>
            <a:off x="4394820" y="2215083"/>
            <a:ext cx="354360" cy="354360"/>
          </a:xfrm>
          <a:prstGeom prst="roundRect">
            <a:avLst>
              <a:gd fmla="val 6001" name="adj"/>
            </a:avLst>
          </a:prstGeom>
          <a:solidFill>
            <a:srgbClr val="FBFCFE"/>
          </a:solidFill>
          <a:ln cap="flat" cmpd="sng" w="19050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1" name="Google Shape;12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3373" y="2303636"/>
            <a:ext cx="177180" cy="17718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7"/>
          <p:cNvSpPr/>
          <p:nvPr/>
        </p:nvSpPr>
        <p:spPr>
          <a:xfrm>
            <a:off x="496119" y="3111773"/>
            <a:ext cx="2288828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350"/>
              <a:buFont typeface="Roboto Slab"/>
              <a:buNone/>
            </a:pPr>
            <a:r>
              <a:rPr b="0" i="0" lang="en-US" sz="13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Class Weight Formula</a:t>
            </a:r>
            <a:endParaRPr b="0" i="0" sz="1350" u="none" cap="none" strike="noStrike"/>
          </a:p>
        </p:txBody>
      </p:sp>
      <p:sp>
        <p:nvSpPr>
          <p:cNvPr id="123" name="Google Shape;123;p17"/>
          <p:cNvSpPr/>
          <p:nvPr/>
        </p:nvSpPr>
        <p:spPr>
          <a:xfrm>
            <a:off x="496119" y="3512641"/>
            <a:ext cx="3902943" cy="590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SzPts val="1250"/>
              <a:buFont typeface="Arial"/>
              <a:buNone/>
            </a:pPr>
            <a:r>
              <a:t/>
            </a:r>
            <a:endParaRPr b="0" i="0" sz="1250" u="none" cap="none" strike="noStrike"/>
          </a:p>
        </p:txBody>
      </p:sp>
      <p:pic>
        <p:nvPicPr>
          <p:cNvPr descr="preencoded.png" id="124" name="Google Shape;12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3512641"/>
            <a:ext cx="3902943" cy="59010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/>
          <p:nvPr/>
        </p:nvSpPr>
        <p:spPr>
          <a:xfrm>
            <a:off x="4749701" y="3111773"/>
            <a:ext cx="22292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350"/>
              <a:buFont typeface="Roboto Slab"/>
              <a:buNone/>
            </a:pPr>
            <a:r>
              <a:rPr b="0" i="0" lang="en-US" sz="13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What it tells us</a:t>
            </a:r>
            <a:endParaRPr b="0" i="0" sz="1350" u="none" cap="none" strike="noStrike"/>
          </a:p>
        </p:txBody>
      </p:sp>
      <p:sp>
        <p:nvSpPr>
          <p:cNvPr id="126" name="Google Shape;126;p17"/>
          <p:cNvSpPr/>
          <p:nvPr/>
        </p:nvSpPr>
        <p:spPr>
          <a:xfrm>
            <a:off x="4749701" y="3474988"/>
            <a:ext cx="390294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b="1" i="0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cumulative fraction</a:t>
            </a:r>
            <a:r>
              <a:rPr b="0" i="0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of the image that would be labeled as background at threshold </a:t>
            </a:r>
            <a:r>
              <a:rPr b="0" i="1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b="0" i="0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/>
          <p:nvPr/>
        </p:nvSpPr>
        <p:spPr>
          <a:xfrm>
            <a:off x="496119" y="1273894"/>
            <a:ext cx="4484936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750"/>
              <a:buFont typeface="Roboto Slab"/>
              <a:buNone/>
            </a:pPr>
            <a:r>
              <a:rPr b="0" i="0" lang="en-US" sz="27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Step 3 — Class Centroids</a:t>
            </a:r>
            <a:endParaRPr b="0" i="0" sz="2750" u="none" cap="none" strike="noStrike"/>
          </a:p>
        </p:txBody>
      </p:sp>
      <p:sp>
        <p:nvSpPr>
          <p:cNvPr id="133" name="Google Shape;133;p18"/>
          <p:cNvSpPr/>
          <p:nvPr/>
        </p:nvSpPr>
        <p:spPr>
          <a:xfrm>
            <a:off x="496119" y="1773585"/>
            <a:ext cx="3054028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350"/>
              <a:buFont typeface="Roboto Slab"/>
              <a:buNone/>
            </a:pPr>
            <a:r>
              <a:rPr b="0" i="0" lang="en-US" sz="13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Class Mean — Center of Gravity</a:t>
            </a:r>
            <a:endParaRPr b="0" i="0" sz="1350" u="none" cap="none" strike="noStrike"/>
          </a:p>
        </p:txBody>
      </p:sp>
      <p:sp>
        <p:nvSpPr>
          <p:cNvPr id="134" name="Google Shape;134;p18"/>
          <p:cNvSpPr/>
          <p:nvPr/>
        </p:nvSpPr>
        <p:spPr>
          <a:xfrm>
            <a:off x="496119" y="2207642"/>
            <a:ext cx="8151763" cy="493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SzPts val="1250"/>
              <a:buFont typeface="Arial"/>
              <a:buNone/>
            </a:pPr>
            <a:r>
              <a:t/>
            </a:r>
            <a:endParaRPr b="0" i="0" sz="1250" u="none" cap="none" strike="noStrike"/>
          </a:p>
        </p:txBody>
      </p:sp>
      <p:pic>
        <p:nvPicPr>
          <p:cNvPr descr="preencoded.png" id="135" name="Google Shape;13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2207642"/>
            <a:ext cx="8151763" cy="49381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8"/>
          <p:cNvSpPr/>
          <p:nvPr/>
        </p:nvSpPr>
        <p:spPr>
          <a:xfrm>
            <a:off x="496119" y="2880866"/>
            <a:ext cx="8151763" cy="602382"/>
          </a:xfrm>
          <a:prstGeom prst="roundRect">
            <a:avLst>
              <a:gd fmla="val 3530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7" name="Google Shape;13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7877" y="3095923"/>
            <a:ext cx="177180" cy="141759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8"/>
          <p:cNvSpPr/>
          <p:nvPr/>
        </p:nvSpPr>
        <p:spPr>
          <a:xfrm>
            <a:off x="956816" y="3058046"/>
            <a:ext cx="8006507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Not the global image mean — each class has its own independent centroid.</a:t>
            </a:r>
            <a:endParaRPr b="0" i="0" sz="1100" u="none" cap="none" strike="noStrike"/>
          </a:p>
        </p:txBody>
      </p:sp>
      <p:sp>
        <p:nvSpPr>
          <p:cNvPr id="139" name="Google Shape;139;p18"/>
          <p:cNvSpPr/>
          <p:nvPr/>
        </p:nvSpPr>
        <p:spPr>
          <a:xfrm>
            <a:off x="496119" y="3642717"/>
            <a:ext cx="8608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As threshold </a:t>
            </a:r>
            <a:r>
              <a:rPr b="0" i="1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b="0" i="0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shifts, pixels switch classes and </a:t>
            </a:r>
            <a:r>
              <a:rPr b="1" i="0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both means move dynamically</a:t>
            </a:r>
            <a:r>
              <a:rPr b="0" i="0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across the intensity axis.</a:t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/>
          <p:nvPr/>
        </p:nvSpPr>
        <p:spPr>
          <a:xfrm>
            <a:off x="496119" y="1374874"/>
            <a:ext cx="6001866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750"/>
              <a:buFont typeface="Roboto Slab"/>
              <a:buNone/>
            </a:pPr>
            <a:r>
              <a:rPr b="0" i="0" lang="en-US" sz="27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Step 4 — Between-Class Variance</a:t>
            </a:r>
            <a:endParaRPr b="0" i="0" sz="2750" u="none" cap="none" strike="noStrike"/>
          </a:p>
        </p:txBody>
      </p:sp>
      <p:sp>
        <p:nvSpPr>
          <p:cNvPr id="146" name="Google Shape;146;p19"/>
          <p:cNvSpPr/>
          <p:nvPr/>
        </p:nvSpPr>
        <p:spPr>
          <a:xfrm>
            <a:off x="496119" y="2030462"/>
            <a:ext cx="8608963" cy="245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SzPts val="1250"/>
              <a:buFont typeface="Arial"/>
              <a:buNone/>
            </a:pPr>
            <a:r>
              <a:t/>
            </a:r>
            <a:endParaRPr b="0" i="0" sz="1250" u="none" cap="none" strike="noStrike"/>
          </a:p>
        </p:txBody>
      </p:sp>
      <p:pic>
        <p:nvPicPr>
          <p:cNvPr descr="preencoded.png" id="147" name="Google Shape;14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2030462"/>
            <a:ext cx="8151763" cy="24579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/>
          <p:nvPr/>
        </p:nvSpPr>
        <p:spPr>
          <a:xfrm>
            <a:off x="496119" y="2597423"/>
            <a:ext cx="2696394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350"/>
              <a:buFont typeface="Roboto Slab"/>
              <a:buNone/>
            </a:pPr>
            <a:r>
              <a:rPr b="0" i="0" lang="en-US" sz="13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The Optimization Criterion</a:t>
            </a:r>
            <a:endParaRPr b="0" i="0" sz="1350" u="none" cap="none" strike="noStrike"/>
          </a:p>
        </p:txBody>
      </p:sp>
      <p:sp>
        <p:nvSpPr>
          <p:cNvPr id="149" name="Google Shape;149;p19"/>
          <p:cNvSpPr/>
          <p:nvPr/>
        </p:nvSpPr>
        <p:spPr>
          <a:xfrm>
            <a:off x="496119" y="2960638"/>
            <a:ext cx="390294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b="1" i="0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Maximize</a:t>
            </a:r>
            <a:r>
              <a:rPr b="0" i="0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1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\sigma_B^2(t)</a:t>
            </a:r>
            <a:r>
              <a:rPr b="0" i="0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push the two class centroids as far apart as possible.</a:t>
            </a:r>
            <a:endParaRPr b="0" i="0" sz="1100" u="none" cap="none" strike="noStrike"/>
          </a:p>
        </p:txBody>
      </p:sp>
      <p:sp>
        <p:nvSpPr>
          <p:cNvPr id="150" name="Google Shape;150;p19"/>
          <p:cNvSpPr/>
          <p:nvPr/>
        </p:nvSpPr>
        <p:spPr>
          <a:xfrm>
            <a:off x="4749701" y="2597423"/>
            <a:ext cx="276076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350"/>
              <a:buFont typeface="Roboto Slab"/>
              <a:buNone/>
            </a:pPr>
            <a:r>
              <a:rPr b="0" i="0" lang="en-US" sz="13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The Mathematical Shortcut</a:t>
            </a:r>
            <a:endParaRPr b="0" i="0" sz="1350" u="none" cap="none" strike="noStrike"/>
          </a:p>
        </p:txBody>
      </p:sp>
      <p:sp>
        <p:nvSpPr>
          <p:cNvPr id="151" name="Google Shape;151;p19"/>
          <p:cNvSpPr/>
          <p:nvPr/>
        </p:nvSpPr>
        <p:spPr>
          <a:xfrm>
            <a:off x="4749701" y="2960638"/>
            <a:ext cx="3902943" cy="6804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In a closed system, maximizing </a:t>
            </a:r>
            <a:r>
              <a:rPr b="1" i="0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between-class variance</a:t>
            </a:r>
            <a:r>
              <a:rPr b="0" i="0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is equivalent to minimizing </a:t>
            </a:r>
            <a:r>
              <a:rPr b="1" i="0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within-class variance</a:t>
            </a:r>
            <a:r>
              <a:rPr b="0" i="0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. Perfect separation guaranteed.</a:t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/>
          <p:nvPr/>
        </p:nvSpPr>
        <p:spPr>
          <a:xfrm>
            <a:off x="434132" y="345728"/>
            <a:ext cx="516917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en-US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The Brute-Force Search Pipeline</a:t>
            </a:r>
            <a:endParaRPr b="0" i="0" sz="2400" u="none" cap="none" strike="noStrike"/>
          </a:p>
        </p:txBody>
      </p:sp>
      <p:pic>
        <p:nvPicPr>
          <p:cNvPr descr="preencoded.png" id="158" name="Google Shape;15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213" y="950342"/>
            <a:ext cx="8207499" cy="353928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0"/>
          <p:cNvSpPr/>
          <p:nvPr/>
        </p:nvSpPr>
        <p:spPr>
          <a:xfrm>
            <a:off x="1020474" y="3818443"/>
            <a:ext cx="2319215" cy="232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Roboto Slab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Select t* (max)</a:t>
            </a:r>
            <a:endParaRPr b="0" i="0" sz="1450" u="none" cap="none" strike="noStrike"/>
          </a:p>
        </p:txBody>
      </p:sp>
      <p:sp>
        <p:nvSpPr>
          <p:cNvPr id="160" name="Google Shape;160;p20"/>
          <p:cNvSpPr/>
          <p:nvPr/>
        </p:nvSpPr>
        <p:spPr>
          <a:xfrm>
            <a:off x="1020474" y="2999157"/>
            <a:ext cx="2319215" cy="232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Roboto Slab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Compute σ²_B(t)</a:t>
            </a:r>
            <a:endParaRPr b="0" i="0" sz="1450" u="none" cap="none" strike="noStrike"/>
          </a:p>
        </p:txBody>
      </p:sp>
      <p:sp>
        <p:nvSpPr>
          <p:cNvPr id="161" name="Google Shape;161;p20"/>
          <p:cNvSpPr/>
          <p:nvPr/>
        </p:nvSpPr>
        <p:spPr>
          <a:xfrm>
            <a:off x="1020474" y="2188146"/>
            <a:ext cx="2319215" cy="232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Roboto Slab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Loop 256 t</a:t>
            </a:r>
            <a:endParaRPr b="0" i="0" sz="1450" u="none" cap="none" strike="noStrike"/>
          </a:p>
        </p:txBody>
      </p:sp>
      <p:sp>
        <p:nvSpPr>
          <p:cNvPr id="162" name="Google Shape;162;p20"/>
          <p:cNvSpPr/>
          <p:nvPr/>
        </p:nvSpPr>
        <p:spPr>
          <a:xfrm>
            <a:off x="1020474" y="1368859"/>
            <a:ext cx="2319215" cy="232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Roboto Slab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Compute p(i)</a:t>
            </a:r>
            <a:endParaRPr b="0" i="0" sz="1450" u="none" cap="none" strike="noStrike"/>
          </a:p>
        </p:txBody>
      </p:sp>
      <p:sp>
        <p:nvSpPr>
          <p:cNvPr id="163" name="Google Shape;163;p20"/>
          <p:cNvSpPr/>
          <p:nvPr/>
        </p:nvSpPr>
        <p:spPr>
          <a:xfrm>
            <a:off x="434132" y="4611663"/>
            <a:ext cx="8709868" cy="186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en-US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Linear complexity </a:t>
            </a:r>
            <a:r>
              <a:rPr b="1" i="1" lang="en-US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O(L)</a:t>
            </a:r>
            <a:r>
              <a:rPr b="0" i="0" lang="en-US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executes in under </a:t>
            </a:r>
            <a:r>
              <a:rPr b="1" i="0" lang="en-US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 millisecond</a:t>
            </a:r>
            <a:r>
              <a:rPr b="0" i="0" lang="en-US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. Ideal for real-time video streams.</a:t>
            </a:r>
            <a:endParaRPr b="0" i="0" sz="9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/>
          <p:nvPr/>
        </p:nvSpPr>
        <p:spPr>
          <a:xfrm>
            <a:off x="496119" y="1420937"/>
            <a:ext cx="400131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750"/>
              <a:buFont typeface="Roboto Slab"/>
              <a:buNone/>
            </a:pPr>
            <a:r>
              <a:rPr b="0" i="0" lang="en-US" sz="27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When Otsu Fails</a:t>
            </a:r>
            <a:endParaRPr b="0" i="0" sz="2750" u="none" cap="none" strike="noStrike"/>
          </a:p>
        </p:txBody>
      </p:sp>
      <p:sp>
        <p:nvSpPr>
          <p:cNvPr id="170" name="Google Shape;170;p21"/>
          <p:cNvSpPr/>
          <p:nvPr/>
        </p:nvSpPr>
        <p:spPr>
          <a:xfrm>
            <a:off x="496119" y="1920627"/>
            <a:ext cx="2812256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350"/>
              <a:buFont typeface="Roboto Slab"/>
              <a:buNone/>
            </a:pPr>
            <a:r>
              <a:rPr b="0" i="0" lang="en-US" sz="13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Global Algorithm Limitation</a:t>
            </a:r>
            <a:endParaRPr b="0" i="0" sz="1350" u="none" cap="none" strike="noStrike"/>
          </a:p>
        </p:txBody>
      </p:sp>
      <p:sp>
        <p:nvSpPr>
          <p:cNvPr id="171" name="Google Shape;171;p21"/>
          <p:cNvSpPr/>
          <p:nvPr/>
        </p:nvSpPr>
        <p:spPr>
          <a:xfrm>
            <a:off x="496119" y="2354684"/>
            <a:ext cx="8608963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 single threshold applied to the </a:t>
            </a:r>
            <a:r>
              <a:rPr b="1" i="0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entire frame</a:t>
            </a:r>
            <a:r>
              <a:rPr b="0" i="0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assumes a clean bimodal histogram.</a:t>
            </a:r>
            <a:endParaRPr b="0" i="0" sz="1100" u="none" cap="none" strike="noStrike"/>
          </a:p>
        </p:txBody>
      </p:sp>
      <p:pic>
        <p:nvPicPr>
          <p:cNvPr descr="preencoded.png" id="172" name="Google Shape;17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9250" y="2745358"/>
            <a:ext cx="212601" cy="21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1"/>
          <p:cNvSpPr/>
          <p:nvPr/>
        </p:nvSpPr>
        <p:spPr>
          <a:xfrm>
            <a:off x="956816" y="2740968"/>
            <a:ext cx="22292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 Slab"/>
              <a:buNone/>
            </a:pPr>
            <a:r>
              <a:rPr b="0" i="0" lang="en-US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Gaussian Pre-filter</a:t>
            </a:r>
            <a:endParaRPr b="0" i="0" sz="1350" u="none" cap="none" strike="noStrike"/>
          </a:p>
        </p:txBody>
      </p:sp>
      <p:sp>
        <p:nvSpPr>
          <p:cNvPr id="174" name="Google Shape;174;p21"/>
          <p:cNvSpPr/>
          <p:nvPr/>
        </p:nvSpPr>
        <p:spPr>
          <a:xfrm>
            <a:off x="956816" y="3047479"/>
            <a:ext cx="2138437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Smooths sensor noise — restores clean histogram peaks</a:t>
            </a:r>
            <a:endParaRPr b="0" i="0" sz="1100" u="none" cap="none" strike="noStrike"/>
          </a:p>
        </p:txBody>
      </p:sp>
      <p:pic>
        <p:nvPicPr>
          <p:cNvPr descr="preencoded.png" id="175" name="Google Shape;17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25564" y="2745358"/>
            <a:ext cx="212601" cy="21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1"/>
          <p:cNvSpPr/>
          <p:nvPr/>
        </p:nvSpPr>
        <p:spPr>
          <a:xfrm>
            <a:off x="3733130" y="2740968"/>
            <a:ext cx="22292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 Slab"/>
              <a:buNone/>
            </a:pPr>
            <a:r>
              <a:rPr b="0" i="0" lang="en-US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Multi-Level Otsu</a:t>
            </a:r>
            <a:endParaRPr b="0" i="0" sz="1350" u="none" cap="none" strike="noStrike"/>
          </a:p>
        </p:txBody>
      </p:sp>
      <p:sp>
        <p:nvSpPr>
          <p:cNvPr id="177" name="Google Shape;177;p21"/>
          <p:cNvSpPr/>
          <p:nvPr/>
        </p:nvSpPr>
        <p:spPr>
          <a:xfrm>
            <a:off x="3733130" y="3047479"/>
            <a:ext cx="2138437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Tracks multiple thresholds for complex scenes</a:t>
            </a:r>
            <a:endParaRPr b="0" i="0" sz="1100" u="none" cap="none" strike="noStrike"/>
          </a:p>
        </p:txBody>
      </p:sp>
      <p:pic>
        <p:nvPicPr>
          <p:cNvPr descr="preencoded.png" id="178" name="Google Shape;17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1879" y="2745358"/>
            <a:ext cx="212601" cy="21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1"/>
          <p:cNvSpPr/>
          <p:nvPr/>
        </p:nvSpPr>
        <p:spPr>
          <a:xfrm>
            <a:off x="6509445" y="2740968"/>
            <a:ext cx="2138437" cy="44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 Slab"/>
              <a:buNone/>
            </a:pPr>
            <a:r>
              <a:rPr b="0" i="0" lang="en-US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Adaptive Windowing (Sauvola)</a:t>
            </a:r>
            <a:endParaRPr b="0" i="0" sz="1350" u="none" cap="none" strike="noStrike"/>
          </a:p>
        </p:txBody>
      </p:sp>
      <p:sp>
        <p:nvSpPr>
          <p:cNvPr id="180" name="Google Shape;180;p21"/>
          <p:cNvSpPr/>
          <p:nvPr/>
        </p:nvSpPr>
        <p:spPr>
          <a:xfrm>
            <a:off x="6509445" y="3268935"/>
            <a:ext cx="2138437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Local block-level thresholds for non-uniform lighting</a:t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"/>
          <p:cNvSpPr/>
          <p:nvPr/>
        </p:nvSpPr>
        <p:spPr>
          <a:xfrm>
            <a:off x="496119" y="1026616"/>
            <a:ext cx="7263929" cy="442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750"/>
              <a:buFont typeface="Roboto Slab"/>
              <a:buNone/>
            </a:pPr>
            <a:r>
              <a:rPr b="0" i="0" lang="en-US" sz="27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Real-World Case Study: Medical Imaging</a:t>
            </a:r>
            <a:endParaRPr b="0" i="0" sz="2750" u="none" cap="none" strike="noStrike"/>
          </a:p>
        </p:txBody>
      </p:sp>
      <p:sp>
        <p:nvSpPr>
          <p:cNvPr id="187" name="Google Shape;187;p22"/>
          <p:cNvSpPr/>
          <p:nvPr/>
        </p:nvSpPr>
        <p:spPr>
          <a:xfrm>
            <a:off x="496119" y="1823963"/>
            <a:ext cx="2521446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350"/>
              <a:buFont typeface="Roboto Slab"/>
              <a:buNone/>
            </a:pPr>
            <a:r>
              <a:rPr b="0" i="0" lang="en-US" sz="13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Brain MRI Segmentation</a:t>
            </a:r>
            <a:endParaRPr b="0" i="0" sz="1350" u="none" cap="none" strike="noStrike"/>
          </a:p>
        </p:txBody>
      </p:sp>
      <p:sp>
        <p:nvSpPr>
          <p:cNvPr id="188" name="Google Shape;188;p22"/>
          <p:cNvSpPr/>
          <p:nvPr/>
        </p:nvSpPr>
        <p:spPr>
          <a:xfrm>
            <a:off x="496119" y="2187178"/>
            <a:ext cx="3902943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Tumor tissue exhibits </a:t>
            </a:r>
            <a:r>
              <a:rPr b="1" i="0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distinct density and brightness</a:t>
            </a:r>
            <a:r>
              <a:rPr b="0" i="0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vs. healthy soft tissue — a natural bimodal distribution.</a:t>
            </a:r>
            <a:endParaRPr b="0" i="0" sz="1100" u="none" cap="none" strike="noStrike"/>
          </a:p>
        </p:txBody>
      </p:sp>
      <p:sp>
        <p:nvSpPr>
          <p:cNvPr id="189" name="Google Shape;189;p22"/>
          <p:cNvSpPr/>
          <p:nvPr/>
        </p:nvSpPr>
        <p:spPr>
          <a:xfrm>
            <a:off x="4749701" y="1841674"/>
            <a:ext cx="1880592" cy="1100361"/>
          </a:xfrm>
          <a:prstGeom prst="roundRect">
            <a:avLst>
              <a:gd fmla="val 1933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2"/>
          <p:cNvSpPr/>
          <p:nvPr/>
        </p:nvSpPr>
        <p:spPr>
          <a:xfrm>
            <a:off x="4891460" y="1983432"/>
            <a:ext cx="205427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 Slab"/>
              <a:buNone/>
            </a:pPr>
            <a:r>
              <a:rPr b="0" i="0" lang="en-US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Automated Mask</a:t>
            </a:r>
            <a:endParaRPr b="0" i="0" sz="1350" u="none" cap="none" strike="noStrike"/>
          </a:p>
        </p:txBody>
      </p:sp>
      <p:sp>
        <p:nvSpPr>
          <p:cNvPr id="191" name="Google Shape;191;p22"/>
          <p:cNvSpPr/>
          <p:nvPr/>
        </p:nvSpPr>
        <p:spPr>
          <a:xfrm>
            <a:off x="4891460" y="2346647"/>
            <a:ext cx="1597075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Skull and background eliminated instantly</a:t>
            </a:r>
            <a:endParaRPr b="0" i="0" sz="1100" u="none" cap="none" strike="noStrike"/>
          </a:p>
        </p:txBody>
      </p:sp>
      <p:sp>
        <p:nvSpPr>
          <p:cNvPr id="192" name="Google Shape;192;p22"/>
          <p:cNvSpPr/>
          <p:nvPr/>
        </p:nvSpPr>
        <p:spPr>
          <a:xfrm>
            <a:off x="6772052" y="1841674"/>
            <a:ext cx="1880592" cy="1100361"/>
          </a:xfrm>
          <a:prstGeom prst="roundRect">
            <a:avLst>
              <a:gd fmla="val 1933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2"/>
          <p:cNvSpPr/>
          <p:nvPr/>
        </p:nvSpPr>
        <p:spPr>
          <a:xfrm>
            <a:off x="6913811" y="1983432"/>
            <a:ext cx="205427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 Slab"/>
              <a:buNone/>
            </a:pPr>
            <a:r>
              <a:rPr b="0" i="0" lang="en-US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Zero Operator Bias</a:t>
            </a:r>
            <a:endParaRPr b="0" i="0" sz="1350" u="none" cap="none" strike="noStrike"/>
          </a:p>
        </p:txBody>
      </p:sp>
      <p:sp>
        <p:nvSpPr>
          <p:cNvPr id="194" name="Google Shape;194;p22"/>
          <p:cNvSpPr/>
          <p:nvPr/>
        </p:nvSpPr>
        <p:spPr>
          <a:xfrm>
            <a:off x="6913811" y="2346647"/>
            <a:ext cx="1597075" cy="4536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100% reproducible, no manual annotation</a:t>
            </a:r>
            <a:endParaRPr b="0" i="0" sz="1100" u="none" cap="none" strike="noStrike"/>
          </a:p>
        </p:txBody>
      </p:sp>
      <p:sp>
        <p:nvSpPr>
          <p:cNvPr id="195" name="Google Shape;195;p22"/>
          <p:cNvSpPr/>
          <p:nvPr/>
        </p:nvSpPr>
        <p:spPr>
          <a:xfrm>
            <a:off x="4749701" y="3083793"/>
            <a:ext cx="3902943" cy="873547"/>
          </a:xfrm>
          <a:prstGeom prst="roundRect">
            <a:avLst>
              <a:gd fmla="val 2434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2"/>
          <p:cNvSpPr/>
          <p:nvPr/>
        </p:nvSpPr>
        <p:spPr>
          <a:xfrm>
            <a:off x="4891460" y="3225552"/>
            <a:ext cx="2229222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350"/>
              <a:buFont typeface="Roboto Slab"/>
              <a:buNone/>
            </a:pPr>
            <a:r>
              <a:rPr b="0" i="0" lang="en-US" sz="13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DL Handoff</a:t>
            </a:r>
            <a:endParaRPr b="0" i="0" sz="1350" u="none" cap="none" strike="noStrike"/>
          </a:p>
        </p:txBody>
      </p:sp>
      <p:sp>
        <p:nvSpPr>
          <p:cNvPr id="197" name="Google Shape;197;p22"/>
          <p:cNvSpPr/>
          <p:nvPr/>
        </p:nvSpPr>
        <p:spPr>
          <a:xfrm>
            <a:off x="4891460" y="3588767"/>
            <a:ext cx="4076626" cy="2268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Clean, preprocessed data fed to neural networks</a:t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